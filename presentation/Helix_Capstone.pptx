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55448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98448" y="1554480"/>
            <a:ext cx="201168" cy="20116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82495" y="155448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6543" y="155448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50591" y="1554480"/>
            <a:ext cx="201168" cy="20116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34640" y="1554480"/>
            <a:ext cx="201168" cy="20116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18688" y="1554480"/>
            <a:ext cx="201168" cy="20116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600" b="1">
                <a:solidFill>
                  <a:srgbClr val="FFFFFF"/>
                </a:solidFill>
                <a:latin typeface="Segoe UI Semibold"/>
              </a:rPr>
              <a:t>Helix</a:t>
            </a:r>
            <a:r>
              <a:rPr sz="7600" b="1">
                <a:solidFill>
                  <a:srgbClr val="25D7F0"/>
                </a:solidFill>
                <a:latin typeface="Segoe UI Semibol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20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>
                <a:solidFill>
                  <a:srgbClr val="C9D6EF"/>
                </a:solidFill>
                <a:latin typeface="Segoe UI"/>
              </a:rPr>
              <a:t>Autonomous Data Science Agent </a:t>
            </a:r>
            <a:r>
              <a:rPr sz="2600" b="1">
                <a:solidFill>
                  <a:srgbClr val="25D7F0"/>
                </a:solidFill>
                <a:latin typeface="Segoe UI"/>
              </a:rPr>
              <a:t>with Self-Correcting Code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76859F"/>
                </a:solidFill>
                <a:latin typeface="Segoe UI"/>
              </a:rPr>
              <a:t>From a CSV and a sentence to a business-ready report —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69280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779008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9D6EF"/>
                </a:solidFill>
                <a:latin typeface="Consolas"/>
              </a:rPr>
              <a:t>Capstone Project  ·  IIIT-H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Insight is trapped behind a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3246120" cy="30175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697480"/>
            <a:ext cx="256032" cy="25603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200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Scarce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49039"/>
            <a:ext cx="2697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Business teams queue for a data scientist to answer even simple questions — days of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77440"/>
            <a:ext cx="3246120" cy="30175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697480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3200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Repetitive grind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749039"/>
            <a:ext cx="2697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60–70% of analyst time goes to cleaning CSVs, handling missing values and boilerplate EDA.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377440"/>
            <a:ext cx="3246120" cy="30175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2697480"/>
            <a:ext cx="256032" cy="25603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200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Brittle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749039"/>
            <a:ext cx="2697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Code breaks, you read the traceback, patch, rerun, repeat — painful for non-experts.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An AI team that does the whole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9D6EF"/>
                </a:solidFill>
                <a:latin typeface="Segoe UI"/>
              </a:rPr>
              <a:t>Upload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65176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6517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5176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9D6EF"/>
                </a:solidFill>
                <a:latin typeface="Segoe UI"/>
              </a:rPr>
              <a:t>Plain-English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265176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6517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9D6EF"/>
                </a:solidFill>
                <a:latin typeface="Segoe UI"/>
              </a:rPr>
              <a:t>7 agents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65176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6517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9D6EF"/>
                </a:solidFill>
                <a:latin typeface="Segoe UI"/>
              </a:rPr>
              <a:t>Self-correct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65176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6517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65176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9D6EF"/>
                </a:solidFill>
                <a:latin typeface="Segoe UI"/>
              </a:rPr>
              <a:t>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14800"/>
            <a:ext cx="10332720" cy="1554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43484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“Predict which customers will churn.”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AE64A"/>
                </a:solidFill>
                <a:latin typeface="Segoe UI"/>
              </a:rPr>
              <a:t>→  82–84% ROC-AUC, top drivers = contract type &amp; tenure, with a plain-English report — in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68580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9435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Seven agents, orchestrated by 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65176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26517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1546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65176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1064" y="26517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4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Executor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4" y="31546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65176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68696" y="26517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8696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Critic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6" y="31546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265176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96328" y="26517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9AE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8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AutoML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31546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265176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26517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E879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Explainer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1546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265176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51592" y="26517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51592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Reporter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1592" y="31546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3931920"/>
            <a:ext cx="4297680" cy="54864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93192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Consolas"/>
              </a:rPr>
              <a:t>↺  self-correction loop · Executor ⇄ Critic · ≤ 5 retries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76859F"/>
                </a:solidFill>
                <a:latin typeface="Segoe UI"/>
              </a:rPr>
              <a:t>Planner (CoT plan) · Coder (RAG-grounded) · Executor (sandbox) · Critic (self-heal) · AutoML (FLAML) · Explainer (SHAP) · Reporter (LLM)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HEADLINE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Self-correcting code execution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87168"/>
            <a:ext cx="274320" cy="27432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Coder writes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5D7F0"/>
                </a:solidFill>
                <a:latin typeface="Consolas"/>
              </a:rPr>
              <a:t>df.mean(numeric_only=False)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55848"/>
            <a:ext cx="274320" cy="27432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Executor runs it (sandbox)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0040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B7185"/>
                </a:solidFill>
                <a:latin typeface="Consolas"/>
              </a:rPr>
              <a:t>TypeError: could not convert…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24528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Critic reads the traceback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06908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6908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BBF24"/>
                </a:solidFill>
                <a:latin typeface="Consolas"/>
              </a:rPr>
              <a:t>fix → numeric_only=True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093207"/>
            <a:ext cx="274320" cy="27432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98347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Re-run → clean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937759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937759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AE64A"/>
                </a:solidFill>
                <a:latin typeface="Consolas"/>
              </a:rPr>
              <a:t>tenure 32.37 · charges 64.76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6859F"/>
                </a:solidFill>
                <a:latin typeface="Segoe UI"/>
              </a:rPr>
              <a:t>RestrictedPython sandbox — file-system, network and dangerous imports all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Real ML, sandboxed and explainable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2578608"/>
            <a:ext cx="201168" cy="20116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25237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FLAML AutoML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0632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Auto-selects &amp; tunes the best model under a time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27448" y="2578608"/>
            <a:ext cx="201168" cy="20116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25237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SHAP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0632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Quantifies what drives every 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860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888" y="2578608"/>
            <a:ext cx="201168" cy="20116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5237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RAG 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0632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ChromaDB + embeddings ground the Coder's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148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07008" y="4407408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Secure 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8920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RestrictedPython blocks fs / network / imports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1148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27448" y="4407408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4 task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8920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Classification · regression · clustering · NLP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1148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7888" y="4407408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Any 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8920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Auto-cleans messy data and detects the 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Measured across all four task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9AE64A"/>
                </a:solidFill>
                <a:latin typeface="Segoe UI Semibold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task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774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25D7F0"/>
                </a:solidFill>
                <a:latin typeface="Segoe UI Semibold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self-correction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FBBF24"/>
                </a:solidFill>
                <a:latin typeface="Segoe UI Semibold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sandbox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3774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A78BFA"/>
                </a:solidFill>
                <a:latin typeface="Segoe UI Semibold"/>
              </a:rPr>
              <a:t>7.1s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avg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77639"/>
            <a:ext cx="10332720" cy="2286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1605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1605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Detected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Best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41605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Telco Churn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Binary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4617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AE64A"/>
                </a:solidFill>
                <a:latin typeface="Segoe UI"/>
              </a:rPr>
              <a:t>0.84 ROC-AUC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Sales (synthetic)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79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Extra Trees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AE64A"/>
                </a:solidFill>
                <a:latin typeface="Segoe UI"/>
              </a:rPr>
              <a:t>0.95 R²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40410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Segments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79" y="540410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Clustering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0410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KMeans (k=4)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540410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AE64A"/>
                </a:solidFill>
                <a:latin typeface="Segoe UI"/>
              </a:rPr>
              <a:t>4 segments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79729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79" y="579729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NLP +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9729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LightGBM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579729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AE64A"/>
                </a:solidFill>
                <a:latin typeface="Segoe UI"/>
              </a:rPr>
              <a:t>100%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Open models, production tooling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260604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35915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Agents /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614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LangGraph · LangChain · DeepSeek · Mistral · Groq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56248" y="260604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35915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7614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RestrictedPython sandbox · FastAPI (SSE)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20439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07008" y="3931920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685031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ML / AutoML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873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scikit-learn · FLAML · pandas · NumPy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39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6248" y="3931920"/>
            <a:ext cx="182880" cy="1828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685031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0873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SHAP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4632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7008" y="5257800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0109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Retrieval (RAG)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132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ChromaDB · sentence embeddings (MiniLM)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4632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56248" y="525780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4132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Next.js · React · Tailwind · Gradio (Colab)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From days to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4203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5D7F0"/>
                </a:solidFill>
                <a:latin typeface="Segoe UI Semibold"/>
              </a:rPr>
              <a:t>Faster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Analyses that took days now take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54203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9AE64A"/>
                </a:solidFill>
                <a:latin typeface="Segoe UI Semibold"/>
              </a:rPr>
              <a:t>Less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Non-technical users run analyses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E879F9"/>
                </a:solidFill>
                <a:latin typeface="Segoe UI Semibold"/>
              </a:rPr>
              <a:t>Explainable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006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Every result ships with SHAP drivers + a narrative.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2336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27939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BBF24"/>
                </a:solidFill>
                <a:latin typeface="Segoe UI Semibold"/>
              </a:rPr>
              <a:t>Trustworthy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8006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Sandboxed, self-correcting, and reproducible.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98448" y="1645920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82495" y="164592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6543" y="164592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50591" y="1645920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34640" y="1645920"/>
            <a:ext cx="182880" cy="1828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18688" y="1645920"/>
            <a:ext cx="182880" cy="1828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From a CSV to a decision —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5D7F0"/>
                </a:solidFill>
                <a:latin typeface="Segoe UI Semibold"/>
              </a:rPr>
              <a:t>autonomously.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114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9D6EF"/>
                </a:solidFill>
                <a:latin typeface="Consolas"/>
              </a:rPr>
              <a:t>Live demo:  localhost:3000/studio   ·   Colab:  Helix_RealData_Colab.ipynb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6859F"/>
                </a:solidFill>
                <a:latin typeface="Consolas"/>
              </a:rPr>
              <a:t>github · capstone · IIIT-H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76859F"/>
                </a:solidFill>
                <a:latin typeface="Segoe U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