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01407" y="0"/>
            <a:ext cx="36576" cy="6858000"/>
          </a:xfrm>
          <a:prstGeom prst="roundRect">
            <a:avLst>
              <a:gd name="adj" fmla="val 8000"/>
            </a:avLst>
          </a:prstGeom>
          <a:solidFill>
            <a:srgbClr val="1A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17320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417320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141732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1417320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77440" y="1417320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43200" y="1417320"/>
            <a:ext cx="182880" cy="1828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417320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141732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0480" y="1417320"/>
            <a:ext cx="182880" cy="1828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965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CAPSTONE PROJECT  ·  IIIT-HYDERABAD  ·  JUNE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600" b="1">
                <a:solidFill>
                  <a:srgbClr val="FFFFFF"/>
                </a:solidFill>
                <a:latin typeface="Segoe UI Semibold"/>
              </a:rPr>
              <a:t>Helix</a:t>
            </a:r>
            <a:r>
              <a:rPr sz="7600" b="1">
                <a:solidFill>
                  <a:srgbClr val="25D7F0"/>
                </a:solidFill>
                <a:latin typeface="Segoe UI Semibol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118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25D7F0"/>
                </a:solidFill>
                <a:latin typeface="Segoe UI"/>
              </a:rPr>
              <a:t>The Autonomous Data Scientist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29768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9D6EF"/>
                </a:solidFill>
                <a:latin typeface="Segoe UI"/>
              </a:rPr>
              <a:t>A nine-agent AI system that takes a CSV and a plain-English goal, then plans, codes, executes, self-heals and reports — turning raw data into a board-ready report in minutes, not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532120"/>
            <a:ext cx="1330452" cy="4572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3304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5D7F0"/>
                </a:solidFill>
                <a:latin typeface="Consolas"/>
              </a:rPr>
              <a:t>9 AI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73452" y="5532120"/>
            <a:ext cx="1906524" cy="4572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3452" y="5532120"/>
            <a:ext cx="19065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SELF-HEALING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8576" y="5532120"/>
            <a:ext cx="1810512" cy="45720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9AE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5532120"/>
            <a:ext cx="1810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9AE64A"/>
                </a:solidFill>
                <a:latin typeface="Consolas"/>
              </a:rPr>
              <a:t>100% EXPLAINABLE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6263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helix-henna.vercel.app    ·    github.com/Srujan29112001/helix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What is Helix?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C9D6EF"/>
                </a:solidFill>
                <a:latin typeface="Segoe UI"/>
              </a:rPr>
              <a:t>An autonomous, multi-agent data-science studio. Describe your goal in plain English, point it at a CSV, and nine specialized AI agents collaborate to clean, analyze, model, visualize and explain your data — with zero manual 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3483864"/>
            <a:ext cx="219456" cy="219456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32826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You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6301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A CSV + a goal in the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9959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859F"/>
                </a:solidFill>
                <a:latin typeface="Segoe U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42232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4471416"/>
            <a:ext cx="219456" cy="21945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2702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AI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9 agents analyze &amp; interpret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9834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859F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29784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5458968"/>
            <a:ext cx="219456" cy="219456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5257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You receive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6052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Charts, report &amp; strategy</a:t>
            </a:r>
          </a:p>
        </p:txBody>
      </p:sp>
      <p:pic>
        <p:nvPicPr>
          <p:cNvPr id="21" name="Picture 20" descr="05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096512" cy="230428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635240" y="1828800"/>
            <a:ext cx="4096512" cy="2304288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315968"/>
            <a:ext cx="4096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Four sample datasets + upload — the live product.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754880"/>
            <a:ext cx="1975104" cy="7315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1" y="484632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5D7F0"/>
                </a:solidFill>
                <a:latin typeface="Segoe UI Semibold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521208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6859F"/>
                </a:solidFill>
                <a:latin typeface="Consolas"/>
              </a:rPr>
              <a:t>AI agents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4754880"/>
            <a:ext cx="1975104" cy="7315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484632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8B5CF6"/>
                </a:solidFill>
                <a:latin typeface="Segoe UI Semibold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521208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6859F"/>
                </a:solidFill>
                <a:latin typeface="Consolas"/>
              </a:rPr>
              <a:t>LLM providers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5596128"/>
            <a:ext cx="1975104" cy="7315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9831" y="5687568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9AE64A"/>
                </a:solidFill>
                <a:latin typeface="Segoe UI Semibold"/>
              </a:rPr>
              <a:t>16+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9831" y="605332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6859F"/>
                </a:solidFill>
                <a:latin typeface="Consolas"/>
              </a:rPr>
              <a:t>SVG charts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6648" y="5596128"/>
            <a:ext cx="1975104" cy="7315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5687568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BBF24"/>
                </a:solidFill>
                <a:latin typeface="Segoe UI Semibold"/>
              </a:rPr>
              <a:t>Dual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605332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76859F"/>
                </a:solidFill>
                <a:latin typeface="Consolas"/>
              </a:rPr>
              <a:t>sandbox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01407" y="0"/>
            <a:ext cx="36576" cy="6858000"/>
          </a:xfrm>
          <a:prstGeom prst="roundRect">
            <a:avLst>
              <a:gd name="adj" fmla="val 8000"/>
            </a:avLst>
          </a:prstGeom>
          <a:solidFill>
            <a:srgbClr val="1A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Why Helix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BBF24"/>
                </a:solidFill>
                <a:latin typeface="Segoe UI Semibold"/>
              </a:rPr>
              <a:t>60–70%</a:t>
            </a:r>
            <a:r>
              <a:rPr sz="1400" b="0">
                <a:solidFill>
                  <a:srgbClr val="C9D6EF"/>
                </a:solidFill>
                <a:latin typeface="Segoe UI"/>
              </a:rPr>
              <a:t>  of a data scientist's time is lost to repetitive prep — loading, cleaning, encoding — not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3383279"/>
            <a:ext cx="201168" cy="20116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3154679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The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520439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Business teams queue for days; insights arrive too late to act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96511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4462272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423367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The repetitive grind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599431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Every dataset demands the same boilerplate pipeline, rewritten by 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755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5541264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5312664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Brittle iteration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678424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When goals shift or models fail, the whole pipeline is rebuilt manually.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Days of manual work → minutes of autonomy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12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7185"/>
                </a:solidFill>
                <a:latin typeface="Consolas"/>
              </a:rPr>
              <a:t>BEFORE HELIX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8892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Manual pipeline takes days to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55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55848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Data-scientist time is the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2277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22776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Non-technical stakeholders locked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97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89704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Every iteration means manual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5663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56631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Results arrive after the context shifts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011680"/>
            <a:ext cx="5074920" cy="36576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5875">
            <a:solidFill>
              <a:srgbClr val="9AE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212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Consolas"/>
              </a:rPr>
              <a:t>AFTER HELIX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7889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278892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Autonomous pipeline finishes in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355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355848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Plain-English goal → board-ready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92277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3922776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Anyone can run a full ML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4897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489704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Re-run instantly with a one-line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05663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5056631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Self-healing agents fix their own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76859F"/>
                </a:solidFill>
                <a:latin typeface="Segoe UI"/>
              </a:rPr>
              <a:t>Helix replaces days of manual work with minutes of autonomous, explainable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040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12647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9264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A three-tier, stateless pipeline</a:t>
            </a:r>
          </a:p>
        </p:txBody>
      </p:sp>
      <p:pic>
        <p:nvPicPr>
          <p:cNvPr id="6" name="Picture 5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283" y="1737360"/>
            <a:ext cx="6098385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5283" y="1737360"/>
            <a:ext cx="6098385" cy="4206240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Stateless · no database · in-memory per request · agents stream live to the UI via Server-Sent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The nine-agent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3591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8B5CF6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377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9806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Numbered analysis plan from your goal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1945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3591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5D7F0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2377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79806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Writes Python via a RAG-grounded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1945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3591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2377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79806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Runs the code in a secure sandbox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93008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6576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BF24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6758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Critic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96511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Debugs &amp; fixes errors (≤5 retries)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493008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6576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AE64A"/>
                </a:solidFill>
                <a:latin typeface="Segoe UI Semi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6758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AutoML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096511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FLAML searches for the best ML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3493008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36576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879F9"/>
                </a:solidFill>
                <a:latin typeface="Segoe UI Semi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36758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Explainer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4096511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SHAP feature importance + direction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91456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49560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Segoe UI Semibold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49743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Visualizer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3949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Picks the best of 16+ chart types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4791456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4" y="49560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A78BFA"/>
                </a:solidFill>
                <a:latin typeface="Segoe UI Semibold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9784" y="49743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Researcher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53949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Live web search for domain context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18704" y="4791456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49560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7185"/>
                </a:solidFill>
                <a:latin typeface="Segoe UI Semibold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1936" y="49743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Reporter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53949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Writes the business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25D7F0"/>
                </a:solidFill>
                <a:latin typeface="Consolas"/>
              </a:rPr>
              <a:t>FLOW   Planner → Coder → Executor → Critic → AutoML → Explainer → Visualizer → Researcher → Reporter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DEEP DIVE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Plan · Code · Execute · Critique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02920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109728" cy="164592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225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8B5CF6"/>
                </a:solidFill>
                <a:latin typeface="Segoe UI Semibold"/>
              </a:rPr>
              <a:t>1 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16352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Reads your goal and data schema, then designs a step-by-step analysis plan. Planning first prevents wasted computation downstream.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02920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109728" cy="1645920"/>
          </a:xfrm>
          <a:prstGeom prst="roundRect">
            <a:avLst>
              <a:gd name="adj" fmla="val 0"/>
            </a:avLst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225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5D7F0"/>
                </a:solidFill>
                <a:latin typeface="Segoe UI Semibold"/>
              </a:rPr>
              <a:t>2  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16352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Converts the plan into executable Python (pandas, scikit-learn) — grounded by RAG over library docs to cut hallucinated APIs.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502920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109728" cy="164592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9709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Segoe UI Semibold"/>
              </a:rPr>
              <a:t>3  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90872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Runs the generated code inside an isolated sandbox (RestrictedPython / E2B). Untrusted code never touches the host.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39"/>
            <a:ext cx="5029200" cy="16459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977639"/>
            <a:ext cx="109728" cy="1645920"/>
          </a:xfrm>
          <a:prstGeom prst="roundRect">
            <a:avLst>
              <a:gd name="adj" fmla="val 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19709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BF24"/>
                </a:solidFill>
                <a:latin typeface="Segoe UI Semibold"/>
              </a:rPr>
              <a:t>4  Critic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90872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Audits outputs for errors. On failure it feeds a correction back to the Coder — the self-healing loop, up to 5 retries.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DEEP DIVE ·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78992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Model · Explain · Visualize · Research ·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109728" cy="1280160"/>
          </a:xfrm>
          <a:prstGeom prst="roundRect">
            <a:avLst>
              <a:gd name="adj" fmla="val 0"/>
            </a:avLst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4942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9AE64A"/>
                </a:solidFill>
                <a:latin typeface="Segoe UI Semibold"/>
              </a:rPr>
              <a:t>5  AutoML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FLAML searches LightGBM, XGBoost, RF &amp; Logistic Regression — selecting the best model under a time budget, no manual tuning.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109728" cy="1280160"/>
          </a:xfrm>
          <a:prstGeom prst="roundRect">
            <a:avLst>
              <a:gd name="adj" fmla="val 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24942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9F9"/>
                </a:solidFill>
                <a:latin typeface="Segoe UI Semibold"/>
              </a:rPr>
              <a:t>6  Explainer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SHAP turns metrics and feature importances into plain-English drivers any stakeholder understands — with direction.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20439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520439"/>
            <a:ext cx="109728" cy="1280160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66674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DD4BF"/>
                </a:solidFill>
                <a:latin typeface="Segoe UI Semibold"/>
              </a:rPr>
              <a:t>7  Visualizer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69079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Chooses the best chart from 16+ pure-SVG types; the engine fills every number from real data — a chart can't fabricate a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39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520439"/>
            <a:ext cx="109728" cy="128016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66674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A78BFA"/>
                </a:solidFill>
                <a:latin typeface="Segoe UI Semibold"/>
              </a:rPr>
              <a:t>8 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69079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RAG + live web search (Tavily / DuckDuckGo) enrich findings with industry benchmarks and domain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937760"/>
            <a:ext cx="1037844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937760"/>
            <a:ext cx="109728" cy="960120"/>
          </a:xfrm>
          <a:prstGeom prst="roundRect">
            <a:avLst>
              <a:gd name="adj" fmla="val 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084064"/>
            <a:ext cx="9738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B7185"/>
                </a:solidFill>
                <a:latin typeface="Segoe UI Semibold"/>
              </a:rPr>
              <a:t>9  Reporter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86400"/>
            <a:ext cx="9738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Assembles the deliverable: a 6–7 paragraph executive report with drivers, risks and prioritized recommendations.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KEY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The self-healing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9D6EF"/>
                </a:solidFill>
                <a:latin typeface="Segoe UI"/>
              </a:rPr>
              <a:t>When generated code fails, Helix doesn't stop. The Critic diagnoses the error and feeds a correction back to the Coder — the pipeline repairs itself, autonomously, up to five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9260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7780">
            <a:solidFill>
              <a:srgbClr val="25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0723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930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writes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926080"/>
            <a:ext cx="640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76859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9260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778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0723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Executor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4930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runs in 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926080"/>
            <a:ext cx="6400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76859F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926080"/>
            <a:ext cx="237744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0723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Critic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4930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Consolas"/>
              </a:rPr>
              <a:t>audits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26080"/>
            <a:ext cx="3931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AE64A"/>
                </a:solidFill>
                <a:latin typeface="Consolas"/>
              </a:rPr>
              <a:t>Pass → AutoML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16052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090E1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1605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✕ error  →  diagnosis  →  corrected code  →  retry   (max 5×)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98348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8406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25D7F0"/>
                </a:solidFill>
                <a:latin typeface="Segoe UI Semibold"/>
              </a:rPr>
              <a:t>≤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autonomous retries per 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498348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508406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9AE64A"/>
                </a:solidFill>
                <a:latin typeface="Segoe UI Semibold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57150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manual debugging required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18704" y="498348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8704" y="5084064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BBF24"/>
                </a:solidFill>
                <a:latin typeface="Segoe UI Semibold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571500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responses always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TECHNOLOGY ·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The Studio — set up in four fields</a:t>
            </a:r>
          </a:p>
        </p:txBody>
      </p:sp>
      <p:pic>
        <p:nvPicPr>
          <p:cNvPr id="6" name="Picture 5" descr="06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6492240" cy="36518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240280"/>
            <a:ext cx="6492240" cy="3651885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196596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08483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D7F0"/>
                </a:solidFill>
                <a:latin typeface="Segoe UI Semibold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423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Sample, or upload CSV / Excel / Parquet / JSON, or paste a URL / 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063239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182111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D7F0"/>
                </a:solidFill>
                <a:latin typeface="Segoe UI Semibold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3520439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Your question in plain English — feeds the Planner &amp; Reporter.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16052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2793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D7F0"/>
                </a:solidFill>
                <a:latin typeface="Segoe UI Semibold"/>
              </a:rPr>
              <a:t>Target +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46177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Column to predict (or Auto) and task (or Auto) — hides for clustering.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525780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537667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D7F0"/>
                </a:solidFill>
                <a:latin typeface="Segoe UI Semibold"/>
              </a:rPr>
              <a:t>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57150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Provider, model, per-agent temperature &amp; key — keys stay in your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WATCH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Full transparency — every step, live</a:t>
            </a:r>
          </a:p>
        </p:txBody>
      </p:sp>
      <p:pic>
        <p:nvPicPr>
          <p:cNvPr id="6" name="Picture 5" descr="10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6492240" cy="36518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240280"/>
            <a:ext cx="6492240" cy="3651885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196596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0756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Segoe UI Semibold"/>
              </a:rPr>
              <a:t>Real-time 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414015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An asyncio.Queue event bus pushes each agent's status the instant it happens — sub-second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063239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1729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Segoe UI Semibold"/>
              </a:rPr>
              <a:t>Colab-style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351129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Complete code, stdout and tracebacks — never truncated.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16052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2702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Segoe UI Semibold"/>
              </a:rPr>
              <a:t>Prompt &amp;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460857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Each agent's exact system prompt + the sandbox rules, on tap.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525780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53675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Segoe UI Semibold"/>
              </a:rPr>
              <a:t>See the heal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570585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The Critic's diagnosis and corrected code, in real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A results dashboard anyone can read</a:t>
            </a:r>
          </a:p>
        </p:txBody>
      </p:sp>
      <p:pic>
        <p:nvPicPr>
          <p:cNvPr id="6" name="Picture 5" descr="11_results_tel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6492240" cy="36518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240280"/>
            <a:ext cx="6492240" cy="3651885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196596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0756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9F9"/>
                </a:solidFill>
                <a:latin typeface="Segoe UI Semibold"/>
              </a:rPr>
              <a:t>Honest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414015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Grades the signal from strong to near-chance — weak data labels itself.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063239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1729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9F9"/>
                </a:solidFill>
                <a:latin typeface="Segoe UI Semibold"/>
              </a:rPr>
              <a:t>Interactive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351129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Hover any point or line for the exact value; real numeric axes.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16052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2702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9F9"/>
                </a:solidFill>
                <a:latin typeface="Segoe UI Semibold"/>
              </a:rPr>
              <a:t>Key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460857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Best model, top driver, key segment, correlations — at a glance.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5257800"/>
            <a:ext cx="3593592" cy="9784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53675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879F9"/>
                </a:solidFill>
                <a:latin typeface="Segoe UI Semibold"/>
              </a:rPr>
              <a:t>Business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570585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Narrative + recommendation, grounded in live web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TECHNOLOGY ·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Where the intelligence lives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2414015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2" y="22768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FastAPI + Uvicorn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72491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Async Python, native SSE streaming.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103120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23944" y="2414015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2768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72491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9-agent StateGraph + self-heal loops.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144" y="3785615"/>
            <a:ext cx="164592" cy="164592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4752" y="36484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FLAML AutoML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096511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Fast model search under a budget.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474720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23944" y="3785615"/>
            <a:ext cx="164592" cy="16459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36484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4096511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Exact, game-theoretic explainability.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46320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" y="5157216"/>
            <a:ext cx="164592" cy="164592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4752" y="50200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ChromaDB + MiniLM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46811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In-memory RAG over DS recipes.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846320"/>
            <a:ext cx="2788920" cy="120700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23944" y="5157216"/>
            <a:ext cx="164592" cy="164592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50200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RestrictedPython + E2B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2232" y="5468112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Dual sandbox — jail or microVM.</a:t>
            </a:r>
          </a:p>
        </p:txBody>
      </p:sp>
      <p:pic>
        <p:nvPicPr>
          <p:cNvPr id="30" name="Picture 29" descr="art_back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445242"/>
            <a:ext cx="4526280" cy="256187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995160" y="2445242"/>
            <a:ext cx="4526280" cy="2561874"/>
          </a:xfrm>
          <a:prstGeom prst="rect">
            <a:avLst/>
          </a:prstGeom>
          <a:noFill/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5486400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Stateless, async Python — the core analysis engine powers cleaning, modeling, explainability and the chart gallery.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End-to-end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3246120" cy="91440"/>
          </a:xfrm>
          <a:prstGeom prst="roundRect">
            <a:avLst>
              <a:gd name="adj" fmla="val 0"/>
            </a:avLst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5D7F0"/>
                </a:solidFill>
                <a:latin typeface="Segoe UI Semibold"/>
              </a:rPr>
              <a:t>1  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5292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Upload a CSV, set a plain-English goal, configure the LLM per agent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19456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552" y="2194560"/>
            <a:ext cx="3246120" cy="9144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Segoe UI Semibold"/>
              </a:rPr>
              <a:t>2  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85292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Strip, coerce numerics, impute missing values, label-encode, parse 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19456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2194560"/>
            <a:ext cx="3246120" cy="9144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B5CF6"/>
                </a:solidFill>
                <a:latin typeface="Segoe UI Semibold"/>
              </a:rPr>
              <a:t>3  Agent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85292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LangGraph runs 9 agents with the Executor → Critic self-healing loop.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77639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977639"/>
            <a:ext cx="3246120" cy="91440"/>
          </a:xfrm>
          <a:prstGeom prst="roundRect">
            <a:avLst>
              <a:gd name="adj" fmla="val 0"/>
            </a:avLst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AE64A"/>
                </a:solidFill>
                <a:latin typeface="Segoe UI Semibold"/>
              </a:rPr>
              <a:t>4  Model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36007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FLAML 80/20 split, optimizing ROC-AUC or R² for the best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977639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16552" y="3977639"/>
            <a:ext cx="3246120" cy="91440"/>
          </a:xfrm>
          <a:prstGeom prst="roundRect">
            <a:avLst>
              <a:gd name="adj" fmla="val 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879F9"/>
                </a:solidFill>
                <a:latin typeface="Segoe UI Semibold"/>
              </a:rPr>
              <a:t>5  Explainability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636007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SHAP ranks features with the direction of impact + statistical tests.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3977639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18704" y="3977639"/>
            <a:ext cx="3246120" cy="91440"/>
          </a:xfrm>
          <a:prstGeom prst="roundRect">
            <a:avLst>
              <a:gd name="adj" fmla="val 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Segoe UI Semibold"/>
              </a:rPr>
              <a:t>6 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4636007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Model verdict, 16+ charts, a 3D graph and a board-ready report.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Every stage streams real-time status to the frontend via SSE — minutes, not days, from upload to insight.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01407" y="0"/>
            <a:ext cx="36576" cy="6858000"/>
          </a:xfrm>
          <a:prstGeom prst="roundRect">
            <a:avLst>
              <a:gd name="adj" fmla="val 8000"/>
            </a:avLst>
          </a:prstGeom>
          <a:solidFill>
            <a:srgbClr val="1A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AI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Eight providers, one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6400800" cy="32004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84831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8483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DEFAULT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08483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32304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Groq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32304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llama-3.3-70b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43230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AE64A"/>
                </a:solidFill>
                <a:latin typeface="Consolas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56916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756916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gpt-4o-mini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75691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8152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081528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claude (Sonnet)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08152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0614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DeepSeek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40614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deepseek-chat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40614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73075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Mistral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73075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mistral-small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7307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055364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Gemini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055364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gemini-2.0-flash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0553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AE64A"/>
                </a:solidFill>
                <a:latin typeface="Consolas"/>
              </a:rPr>
              <a:t>FREE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79976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OpenRouter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379976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deepseek-chat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37997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token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70458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D6EF"/>
                </a:solidFill>
                <a:latin typeface="Segoe UI"/>
              </a:rPr>
              <a:t>Z.ai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704588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glm-4.6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7045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Consolas"/>
              </a:rPr>
              <a:t>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A unified layer routes each task to the right model — capability matched to complexity. Priority: UI settings → per-role env → global env → MockLLM fallback (runs with no keys at all).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AI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Prompt engineering &amp; determinism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C9D6EF"/>
                </a:solidFill>
                <a:latin typeface="Segoe UI"/>
              </a:rPr>
              <a:t>Six of the nine agents are LLM-powered. Each carries an engineered system prompt — an expert persona, a strict output schema and domain context — so results are structured, parseable and reproducible.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04060F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443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▌ SYSTEM PROMPT · Coder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role: </a:t>
            </a:r>
            <a:r>
              <a:rPr sz="1200" b="0">
                <a:solidFill>
                  <a:srgbClr val="25D7F0"/>
                </a:solidFill>
                <a:latin typeface="Consolas"/>
              </a:rPr>
              <a:t>"senior data scientist"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6732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task: </a:t>
            </a:r>
            <a:r>
              <a:rPr sz="1200" b="0">
                <a:solidFill>
                  <a:srgbClr val="C9D6EF"/>
                </a:solidFill>
                <a:latin typeface="Consolas"/>
              </a:rPr>
              <a:t>write Python for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5137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grounding: </a:t>
            </a:r>
            <a:r>
              <a:rPr sz="1200" b="0">
                <a:solidFill>
                  <a:srgbClr val="C9D6EF"/>
                </a:solidFill>
                <a:latin typeface="Consolas"/>
              </a:rPr>
              <a:t>RAG over pandas / sklearn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3542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output: </a:t>
            </a:r>
            <a:r>
              <a:rPr sz="1200" b="0">
                <a:solidFill>
                  <a:srgbClr val="9AE64A"/>
                </a:solidFill>
                <a:latin typeface="Consolas"/>
              </a:rPr>
              <a:t>FULL runnable script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194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rule: </a:t>
            </a:r>
            <a:r>
              <a:rPr sz="1200" b="0">
                <a:solidFill>
                  <a:srgbClr val="FB7185"/>
                </a:solidFill>
                <a:latin typeface="Consolas"/>
              </a:rPr>
              <a:t>no prose, no markdown fences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03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Consolas"/>
              </a:rPr>
              <a:t>temp: </a:t>
            </a:r>
            <a:r>
              <a:rPr sz="1200" b="0">
                <a:solidFill>
                  <a:srgbClr val="FBBF24"/>
                </a:solidFill>
                <a:latin typeface="Consolas"/>
              </a:rPr>
              <a:t>0.2  (deterministic)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88920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86207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Segoe UI Semibold"/>
              </a:rPr>
              <a:t>6 of 9 agents use LLMs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154679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Planner · Coder · Critic · Visualizer · Researcher · Reporter.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38727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611879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Segoe UI Semibold"/>
              </a:rPr>
              <a:t>Temperature 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904487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Low temperature across providers for deterministic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88536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36168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Segoe UI Semibold"/>
              </a:rPr>
              <a:t>Strict JSON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65429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Machine-readable output → the UI renders charts directly.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038344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11149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Segoe UI Semibold"/>
              </a:rPr>
              <a:t>MockLLM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4041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6859F"/>
                </a:solidFill>
                <a:latin typeface="Segoe UI"/>
              </a:rPr>
              <a:t>Zero-config: the system runs with no API keys at 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BREADTH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Nine task types, auto-detected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468879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7904" y="237744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1635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binary + multiclass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1945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0872" y="2468879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0056" y="237744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81635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predict a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1945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93024" y="2468879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37744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816352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segments (k by silhouette)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93008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8720" y="3767328"/>
            <a:ext cx="182880" cy="1828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17904" y="3675887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NLP +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topics · sentiment · keywords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493008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90872" y="3767328"/>
            <a:ext cx="182880" cy="18288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0056" y="3675887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Anomaly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1148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Isolation Forest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3493008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93024" y="3767328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3675887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Dimensionality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41148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PCA → 2-D 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91456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8720" y="5065776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17904" y="497433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Time-series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4132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Holt-Winters ETS + seasonality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4791456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90872" y="5065776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0056" y="497433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Survival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54132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Kaplan-Meier + Cox 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18704" y="4791456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93024" y="5065776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497433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Recommendation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54132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content-based similarity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76859F"/>
                </a:solidFill>
                <a:latin typeface="Segoe UI"/>
              </a:rPr>
              <a:t>Plus statistics, model-evaluation diagnostics, SMOTE, feature engineering, a what-if simulator and natural-language Q&amp;A.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Statistics + evaluation, not just a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5074920" cy="3840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677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5D7F0"/>
                </a:solidFill>
                <a:latin typeface="Segoe UI Semibold"/>
              </a:rPr>
              <a:t>Statistical significance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Auto-picks the right test — Welch t / Mann-Whitney, ANOVA / Kruskal, chi-square, Pearson — each with a p-value, an effect size (Cohen's d, Cramér's V, |r|) and a plain-English verdict.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0916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6859F"/>
                </a:solidFill>
                <a:latin typeface="Segoe UI"/>
              </a:rPr>
              <a:t>So a weak dataset explains itself instead of looking broken — the honest answer, with the maths to back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057400"/>
            <a:ext cx="5074920" cy="384048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2677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879F9"/>
                </a:solidFill>
                <a:latin typeface="Segoe UI Semibold"/>
              </a:rPr>
              <a:t>Model evaluation · diagnostics</a:t>
            </a:r>
          </a:p>
        </p:txBody>
      </p:sp>
      <p:sp>
        <p:nvSpPr>
          <p:cNvPr id="12" name="Oval 11"/>
          <p:cNvSpPr/>
          <p:nvPr/>
        </p:nvSpPr>
        <p:spPr>
          <a:xfrm>
            <a:off x="6473952" y="2889504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281635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Stratified k-fold cross-validation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473952" y="3374136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3300984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Confusion matrix + per-class P/R/F1</a:t>
            </a:r>
          </a:p>
        </p:txBody>
      </p:sp>
      <p:sp>
        <p:nvSpPr>
          <p:cNvPr id="16" name="Oval 15"/>
          <p:cNvSpPr/>
          <p:nvPr/>
        </p:nvSpPr>
        <p:spPr>
          <a:xfrm>
            <a:off x="6473952" y="3858768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3785616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ROC &amp; precision-recall curves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4343400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427024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Calibration + learning curves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4828032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47548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Residuals (predicted vs actual)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5312664"/>
            <a:ext cx="118872" cy="118872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523951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C9D6EF"/>
                </a:solidFill>
                <a:latin typeface="Segoe UI"/>
              </a:rPr>
              <a:t>Model-comparison vs baselines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sec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01407" y="0"/>
            <a:ext cx="36576" cy="6858000"/>
          </a:xfrm>
          <a:prstGeom prst="roundRect">
            <a:avLst>
              <a:gd name="adj" fmla="val 8000"/>
            </a:avLst>
          </a:prstGeom>
          <a:solidFill>
            <a:srgbClr val="1A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Sandboxing &amp; secure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F"/>
                </a:solidFill>
                <a:latin typeface="Segoe UI"/>
              </a:rPr>
              <a:t>AI-generated code is never trusted blindly. Helix runs it behind a defense-in-depth dual sandbox and auto-selects the strongest layer 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9728" cy="96012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07791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Segoe UI Semibold"/>
              </a:rPr>
              <a:t>RestrictedPython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64408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Default layer. AST-level restriction blocks dangerous imports — os, sys, socket — and unsafe attribute access before code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67911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867911"/>
            <a:ext cx="109728" cy="96012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986783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B5CF6"/>
                </a:solidFill>
                <a:latin typeface="Segoe UI Semibold"/>
              </a:rPr>
              <a:t>E2B microVM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4340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Production layer. Full VM isolation: no host filesystem or network, with a hard execution timeout.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946904"/>
            <a:ext cx="109728" cy="960120"/>
          </a:xfrm>
          <a:prstGeom prst="roundRect">
            <a:avLst>
              <a:gd name="adj" fmla="val 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065776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7185"/>
                </a:solidFill>
                <a:latin typeface="Segoe UI Semibold"/>
              </a:rPr>
              <a:t>Input sanitization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422392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CSV files are scanned and column names / values sanitized before any exposure to an LLM.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Graceful degradation — it never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6EF"/>
                </a:solidFill>
                <a:latin typeface="Segoe UI"/>
              </a:rPr>
              <a:t>Every external dependency has a fallback. If something is missing or fails, Helix degrades one level instead of breaking — the app always returns a complete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5234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815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LLM  </a:t>
            </a:r>
            <a:r>
              <a:rPr sz="1200" b="0">
                <a:solidFill>
                  <a:srgbClr val="8B5CF6"/>
                </a:solidFill>
                <a:latin typeface="Consolas"/>
              </a:rPr>
              <a:t>→ MockLLM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60604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75234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LEVEL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0815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RAG  </a:t>
            </a:r>
            <a:r>
              <a:rPr sz="1200" b="0">
                <a:solidFill>
                  <a:srgbClr val="25D7F0"/>
                </a:solidFill>
                <a:latin typeface="Consolas"/>
              </a:rPr>
              <a:t>→ keyword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260604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4" y="275234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30815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Tavily  </a:t>
            </a:r>
            <a:r>
              <a:rPr sz="1200" b="0">
                <a:solidFill>
                  <a:srgbClr val="38BDF8"/>
                </a:solidFill>
                <a:latin typeface="Consolas"/>
              </a:rPr>
              <a:t>→ DuckDuckGo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98678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LEVEL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1596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E2B  </a:t>
            </a:r>
            <a:r>
              <a:rPr sz="1200" b="0">
                <a:solidFill>
                  <a:srgbClr val="FB7185"/>
                </a:solidFill>
                <a:latin typeface="Consolas"/>
              </a:rPr>
              <a:t>→ RestrictedPython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384048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98678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LEVEL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31596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Pipeline error  </a:t>
            </a:r>
            <a:r>
              <a:rPr sz="1200" b="0">
                <a:solidFill>
                  <a:srgbClr val="FBBF24"/>
                </a:solidFill>
                <a:latin typeface="Consolas"/>
              </a:rPr>
              <a:t>→ mock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18704" y="384048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398678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6859F"/>
                </a:solidFill>
                <a:latin typeface="Consolas"/>
              </a:rPr>
              <a:t>LEVEL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31596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F"/>
                </a:solidFill>
                <a:latin typeface="Segoe UI"/>
              </a:rPr>
              <a:t>Backend down  </a:t>
            </a:r>
            <a:r>
              <a:rPr sz="1200" b="0">
                <a:solidFill>
                  <a:srgbClr val="9AE64A"/>
                </a:solidFill>
                <a:latin typeface="Consolas"/>
              </a:rPr>
              <a:t>→ client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76859F"/>
                </a:solidFill>
                <a:latin typeface="Segoe UI"/>
              </a:rPr>
              <a:t>Real-time SSE: an asyncio.Queue bus + anti-buffering headers push every agent event to the UI with sub-second latency.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7724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685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DEPLOYMENT &amp;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Deploy anywhere — how Helix compares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423160"/>
            <a:ext cx="182880" cy="182880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2219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Vercel + Hugging 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243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Production — global CDN frontend + containerized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3756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370332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5021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Docker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0448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Local — one command: docker compose up --build.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17720"/>
            <a:ext cx="4937760" cy="114300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4983480"/>
            <a:ext cx="182880" cy="182880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78231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Google Colab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1846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6859F"/>
                </a:solidFill>
                <a:latin typeface="Segoe UI"/>
              </a:rPr>
              <a:t>Quick demo — pre-built notebooks, zero install.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057400"/>
            <a:ext cx="5102352" cy="4023360"/>
          </a:xfrm>
          <a:prstGeom prst="roundRect">
            <a:avLst>
              <a:gd name="adj" fmla="val 8000"/>
            </a:avLst>
          </a:prstGeom>
          <a:solidFill>
            <a:srgbClr val="0C1224"/>
          </a:solidFill>
          <a:ln w="12700">
            <a:solidFill>
              <a:srgbClr val="1A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128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6859F"/>
                </a:solidFill>
                <a:latin typeface="Consolas"/>
              </a:rPr>
              <a:t>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128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9AE64A"/>
                </a:solidFill>
                <a:latin typeface="Consolas"/>
              </a:rPr>
              <a:t>HELIX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2128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6859F"/>
                </a:solidFill>
                <a:latin typeface="Consolas"/>
              </a:rPr>
              <a:t>OTHERS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15184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Plain-English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15184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615184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90088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Self-healing code (5×)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90088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2990088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64991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9 collaborating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364991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364991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39896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Real ML training (FLAML)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739896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739896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Segoe UI"/>
              </a:rPr>
              <a:t>partial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SHAP explainability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114800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4114800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Segoe UI"/>
              </a:rPr>
              <a:t>manual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9704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Live web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489704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4489704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64608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Business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864608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4864608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239512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9 task types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523951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523951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Segoe UI"/>
              </a:rPr>
              <a:t>partial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614416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C9D6EF"/>
                </a:solidFill>
                <a:latin typeface="Segoe UI"/>
              </a:rPr>
              <a:t>3D knowledge graph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5614416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9AE64A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5614416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B7185"/>
                </a:solidFill>
                <a:latin typeface="Segoe UI"/>
              </a:rPr>
              <a:t>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_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01407" y="0"/>
            <a:ext cx="36576" cy="6858000"/>
          </a:xfrm>
          <a:prstGeom prst="roundRect">
            <a:avLst>
              <a:gd name="adj" fmla="val 8000"/>
            </a:avLst>
          </a:prstGeom>
          <a:solidFill>
            <a:srgbClr val="1A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822960"/>
            <a:ext cx="109728" cy="109728"/>
          </a:xfrm>
          <a:prstGeom prst="ellipse">
            <a:avLst/>
          </a:prstGeom>
          <a:solidFill>
            <a:srgbClr val="25D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73151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76859F"/>
                </a:solidFill>
                <a:latin typeface="Consola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Data science, reimagined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C9D6EF"/>
                </a:solidFill>
                <a:latin typeface="Segoe UI"/>
              </a:rPr>
              <a:t>Helix proves a nine-agent pipeline can run the entire data-science workflow autonomously — from a plain-English goal to a board-ready report with real ML, SHAP explainability, 16+ charts and web-grounded insight.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Hybrid LLM hosting  </a:t>
            </a:r>
            <a:r>
              <a:rPr sz="1150" b="0">
                <a:solidFill>
                  <a:srgbClr val="76859F"/>
                </a:solidFill>
                <a:latin typeface="Segoe UI"/>
              </a:rPr>
              <a:t>8 providers, task-matched, MockLLM fallback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04487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813048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Dual-sandbox execution  </a:t>
            </a:r>
            <a:r>
              <a:rPr sz="1150" b="0">
                <a:solidFill>
                  <a:srgbClr val="76859F"/>
                </a:solidFill>
                <a:latin typeface="Segoe UI"/>
              </a:rPr>
              <a:t>RestrictedPython + E2B, auto-selected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471416"/>
            <a:ext cx="146304" cy="146304"/>
          </a:xfrm>
          <a:prstGeom prst="ellipse">
            <a:avLst/>
          </a:prstGeom>
          <a:solidFill>
            <a:srgbClr val="9AE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79976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LangGraph orchestration  </a:t>
            </a:r>
            <a:r>
              <a:rPr sz="1150" b="0">
                <a:solidFill>
                  <a:srgbClr val="76859F"/>
                </a:solidFill>
                <a:latin typeface="Segoe UI"/>
              </a:rPr>
              <a:t>shared state, conditional self-healing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38344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46904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Segoe UI Semibold"/>
              </a:rPr>
              <a:t>Stateless architecture  </a:t>
            </a:r>
            <a:r>
              <a:rPr sz="1150" b="0">
                <a:solidFill>
                  <a:srgbClr val="76859F"/>
                </a:solidFill>
                <a:latin typeface="Segoe UI"/>
              </a:rPr>
              <a:t>no DB, no sessions — failure classes gone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5D7F0"/>
                </a:solidFill>
                <a:latin typeface="Segoe UI Semibold"/>
              </a:rPr>
              <a:t>Days  →  Minutes.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6859F"/>
                </a:solidFill>
                <a:latin typeface="Consolas"/>
              </a:rPr>
              <a:t>helix-henna.vercel.app   ·   github.com/Srujan29112001/helix   ·   IIIT-H ·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HELIX · The Autonomous Data Scientist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55664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76859F"/>
                </a:solidFill>
                <a:latin typeface="Consolas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