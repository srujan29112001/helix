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0" y="0"/>
            <a:ext cx="5239512" cy="68580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0" y="164592"/>
            <a:ext cx="4873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8B5CF6"/>
                </a:solidFill>
                <a:latin typeface="Consolas"/>
              </a:rPr>
              <a:t>01_hero.png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971800"/>
            <a:ext cx="5239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8B5CF6"/>
                </a:solidFill>
                <a:latin typeface="Consolas"/>
              </a:rPr>
              <a:t>NANOBANANA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474720"/>
            <a:ext cx="45079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abstract neural / data hero art (right third)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0"/>
            <a:ext cx="7040880" cy="685800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0020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00200"/>
            <a:ext cx="182880" cy="18288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160020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11680" y="1600200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77440" y="1600200"/>
            <a:ext cx="182880" cy="18288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0" y="1600200"/>
            <a:ext cx="182880" cy="18288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08960" y="1600200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160020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0" y="1600200"/>
            <a:ext cx="182880" cy="1828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0" b="1">
                <a:solidFill>
                  <a:srgbClr val="FFFFFF"/>
                </a:solidFill>
                <a:latin typeface="Segoe UI Semibold"/>
              </a:rPr>
              <a:t>Helix</a:t>
            </a:r>
            <a:r>
              <a:rPr sz="7400" b="1">
                <a:solidFill>
                  <a:srgbClr val="25D7F0"/>
                </a:solidFill>
                <a:latin typeface="Segoe UI Semibol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4290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0">
                <a:solidFill>
                  <a:srgbClr val="C9D6EF"/>
                </a:solidFill>
                <a:latin typeface="Segoe UI"/>
              </a:rPr>
              <a:t>Autonomous Data Science Agent </a:t>
            </a:r>
            <a:r>
              <a:rPr sz="2300" b="1">
                <a:solidFill>
                  <a:srgbClr val="25D7F0"/>
                </a:solidFill>
                <a:latin typeface="Segoe UI"/>
              </a:rPr>
              <a:t>with Self-Correcting Code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1772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76859F"/>
                </a:solidFill>
                <a:latin typeface="Segoe UI"/>
              </a:rPr>
              <a:t>From a CSV and one plain-English sentence to a business-ready report — automatically, by a team of nine AI agents.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760720"/>
            <a:ext cx="3931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F"/>
                </a:solidFill>
                <a:latin typeface="Consolas"/>
              </a:rPr>
              <a:t>Capstone Project  ·  IIIT-H  ·  Srujan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Insight is trapped behind a bottleneck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3246120" cy="31089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2724912"/>
            <a:ext cx="256032" cy="256032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246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Scarce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94760"/>
            <a:ext cx="2697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Business teams queue for a data scientist to answer even simple questions — days of delay for a single chart.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77440"/>
            <a:ext cx="3246120" cy="31089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2724912"/>
            <a:ext cx="256032" cy="25603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3246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Repetitive grind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794760"/>
            <a:ext cx="2697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60–70% of an analyst's time goes to cleaning CSVs, fixing missing values and rewriting near-identical EDA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377440"/>
            <a:ext cx="3246120" cy="31089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19" y="2724912"/>
            <a:ext cx="256032" cy="25603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246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Brittle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794760"/>
            <a:ext cx="2697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76859F"/>
                </a:solidFill>
                <a:latin typeface="Segoe UI"/>
              </a:rPr>
              <a:t>Code breaks, someone reads the traceback, patches it, reruns — a slow loop that is painful for non-experts.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9D6EF"/>
                </a:solidFill>
                <a:latin typeface="Segoe UI"/>
              </a:rPr>
              <a:t>The result: data piles up, but decisions wait on a handful of specialists.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An AI team that does the entire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0604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25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8745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Upload a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0604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5808" y="260604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606040"/>
            <a:ext cx="18745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Plain-English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260604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260604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7216" y="2606040"/>
            <a:ext cx="18745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9 agents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260604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3" y="260604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3" y="2606040"/>
            <a:ext cx="18745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Self-correct on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260604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260604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25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606040"/>
            <a:ext cx="18745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Business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23360"/>
            <a:ext cx="10332720" cy="17830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34340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“Predict which customers will churn and explain the key drivers.”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9AE64A"/>
                </a:solidFill>
                <a:latin typeface="Segoe UI"/>
              </a:rPr>
              <a:t>→  ~0.84 ROC-AUC, top drivers = contract type &amp; tenure, the right charts, a live-web context pass, and a plain-English report with a recommendation — in minutes, with no human in the loop.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One product, five kinds of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2551176"/>
            <a:ext cx="201168" cy="20116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247802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Segoe UI Semibold"/>
              </a:rPr>
              <a:t>Non-technical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026664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Ask in English, get a data-backed answer + plain explanation — no data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4028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27448" y="2551176"/>
            <a:ext cx="201168" cy="20116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247802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Segoe UI Semibold"/>
              </a:rPr>
              <a:t>Data scientists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026664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Automate the boring 60–70% (cleaning, EDA, baselines) and focus on judgement.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24028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7888" y="2551176"/>
            <a:ext cx="201168" cy="20116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47802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Segoe UI Semibold"/>
              </a:rPr>
              <a:t>Students &amp; learners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026664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A transparent, explainable reference for the whole ML + AI-agent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148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07008" y="442569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43525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Segoe UI Semibold"/>
              </a:rPr>
              <a:t>Professors / evaluators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901184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Multi-agent orchestration, self-correction, AutoML, explainability, RAG — working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1148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27448" y="4425696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7" y="43525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Segoe UI Semibold"/>
              </a:rPr>
              <a:t>Business leaders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901184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A 'data scientist in a box' — faster decisions without growing headcount.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audience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PRODUCT ·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A premium, production web app — not a notebook</a:t>
            </a:r>
          </a:p>
        </p:txBody>
      </p:sp>
      <p:pic>
        <p:nvPicPr>
          <p:cNvPr id="6" name="Picture 5" descr="05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7680960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965960"/>
            <a:ext cx="7680960" cy="4297680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5D7F0"/>
                </a:solidFill>
                <a:latin typeface="Segoe UI Semibold"/>
              </a:rPr>
              <a:t>Next.js +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57860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A genuinely premium UI the proposal's Gradio can't match.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4290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5935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5D7F0"/>
                </a:solidFill>
                <a:latin typeface="Segoe UI Semibold"/>
              </a:rPr>
              <a:t>Tells the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99592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Explains the 9 agents, the self-heal loop and the use-cases.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484632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501091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5D7F0"/>
                </a:solidFill>
                <a:latin typeface="Segoe UI Semibold"/>
              </a:rPr>
              <a:t>One click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541324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Straight to the Studio to run a real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landing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HOW YOU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The Studio — set it up in four fields</a:t>
            </a:r>
          </a:p>
        </p:txBody>
      </p:sp>
      <p:pic>
        <p:nvPicPr>
          <p:cNvPr id="6" name="Picture 5" descr="06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6400800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965960"/>
            <a:ext cx="6400800" cy="4297680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2011680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305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Pick a sample or upload CSV / Excel / Parquet / JSON, or paste a URL / Google-Sheet.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090672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20954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5478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Your question in plain English — feeds the Planner &amp; Reporter.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169664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28853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Target +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62686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Column to predict (or Auto) and the task (or Auto-detect) — hides for clustering.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5248656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53675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AI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705856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Provider, model, per-agent temperature &amp; key — keys stay in your browser.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studio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3152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Nine agents, orchestrated by LangGraph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323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9806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5808" y="22860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25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4323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79806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22860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7216" y="24323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Executor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279806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3" y="22860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3" y="24323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Critic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3" y="279806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22860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9AE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4323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AutoML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79806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4290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E879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753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Explainer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4106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35808" y="34290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5808" y="35753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Visualizer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394106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57216" y="34290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7216" y="35753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Researcher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7216" y="394106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78623" y="34290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8623" y="35753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Reporter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8623" y="394106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709160"/>
            <a:ext cx="5760720" cy="566928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4709160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↺  self-correction loop · Executor ⇄ Critic · ≤ 5 retries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6859F"/>
                </a:solidFill>
                <a:latin typeface="Segoe UI"/>
              </a:rPr>
              <a:t>Each agent is a node in a LangGraph state graph; a conditional edge loops Executor↔Critic until the code runs. The backend streams Server-Sent Events so you watch every step live.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NINE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Who does what — and with which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0332720" cy="4297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94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8B5CF6"/>
                </a:solidFill>
                <a:latin typeface="Segoe UI"/>
              </a:rPr>
              <a:t>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7004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Break the goal into an ordered analysis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700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LLM (chain-of-thought)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D7F0"/>
                </a:solidFill>
                <a:latin typeface="Segoe UI"/>
              </a:rPr>
              <a:t>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63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Write Python for each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632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LLM · RAG-grounded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564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Executor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5643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Run the code safely, capture stdout /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564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RestrictedPython / E2B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4962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Critic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49624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Read tracebacks, rewrite the code, retry ≤5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4962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LLM — self-correction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4281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AutoML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42816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Search models + hyper-parameters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4281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FLAML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63600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79F9"/>
                </a:solidFill>
                <a:latin typeface="Segoe UI"/>
              </a:rPr>
              <a:t>Explainer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63600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Quantify what drives predictions (+ direction)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360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SHAP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292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Visualizer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029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Pick the best chart per finding (engine fills data)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0292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LLM +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42239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Researcher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42239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Pull live real-world context from the 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42239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DuckDuckGo / Tavily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815583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7185"/>
                </a:solidFill>
                <a:latin typeface="Segoe UI"/>
              </a:rPr>
              <a:t>Reporter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15583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Write the business narrative + recommendation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815583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HEADLINE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Self-correcting code execution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274320" cy="27432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Coder writes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276856"/>
            <a:ext cx="5212080" cy="566928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276856"/>
            <a:ext cx="4937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5D7F0"/>
                </a:solidFill>
                <a:latin typeface="Consolas"/>
              </a:rPr>
              <a:t>df.mean(numeric_only=False)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64408"/>
            <a:ext cx="274320" cy="27432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1729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Executor runs it (sandbox)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118103"/>
            <a:ext cx="5212080" cy="566928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118103"/>
            <a:ext cx="4937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B7185"/>
                </a:solidFill>
                <a:latin typeface="Consolas"/>
              </a:rPr>
              <a:t>TypeError: could not convert string…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05655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014215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Critic reads the traceback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959352"/>
            <a:ext cx="5212080" cy="566928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59352"/>
            <a:ext cx="4937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BBF24"/>
                </a:solidFill>
                <a:latin typeface="Consolas"/>
              </a:rPr>
              <a:t>diagnosis → numeric_only=True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946904"/>
            <a:ext cx="274320" cy="27432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8554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Re-run → clean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800600"/>
            <a:ext cx="5212080" cy="566928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800600"/>
            <a:ext cx="4937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AE64A"/>
                </a:solidFill>
                <a:latin typeface="Consolas"/>
              </a:rPr>
              <a:t>tenure 32.37 · charges 64.76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806440"/>
            <a:ext cx="10332720" cy="64008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Real tracebacks → real fixes, up to 5 times. RestrictedPython blocks the file-system, network and dangerous imports.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self-correction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WATCH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Full transparency — every step, live</a:t>
            </a:r>
          </a:p>
        </p:txBody>
      </p:sp>
      <p:pic>
        <p:nvPicPr>
          <p:cNvPr id="6" name="Picture 5" descr="10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7680960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965960"/>
            <a:ext cx="7680960" cy="4297680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8BDF8"/>
                </a:solidFill>
                <a:latin typeface="Segoe UI Semibold"/>
              </a:rPr>
              <a:t>Colab-style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57860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Complete code, stdout and tracebacks — never truncated.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4290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5935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8BDF8"/>
                </a:solidFill>
                <a:latin typeface="Segoe UI Semibold"/>
              </a:rPr>
              <a:t>Prompt &amp;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99592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Each agent's exact system prompt + sandbox rules on tap.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484632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501091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8BDF8"/>
                </a:solidFill>
                <a:latin typeface="Segoe UI Semibold"/>
              </a:rPr>
              <a:t>See the heal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541324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The Critic's diagnosis and corrected code, in real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A results dashboard anyone can read</a:t>
            </a:r>
          </a:p>
        </p:txBody>
      </p:sp>
      <p:pic>
        <p:nvPicPr>
          <p:cNvPr id="6" name="Picture 5" descr="11_results_tel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7680960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965960"/>
            <a:ext cx="7680960" cy="4297680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E879F9"/>
                </a:solidFill>
                <a:latin typeface="Segoe UI Semibold"/>
              </a:rPr>
              <a:t>Honest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57860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Grades the signal from strong to near-chance.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4290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5935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E879F9"/>
                </a:solidFill>
                <a:latin typeface="Segoe UI Semibold"/>
              </a:rPr>
              <a:t>Interactive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99592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Hover any point/line for the exact value; real axis ticks.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484632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501091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E879F9"/>
                </a:solidFill>
                <a:latin typeface="Segoe UI Semibold"/>
              </a:rPr>
              <a:t>Business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541324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Segoe UI"/>
              </a:rPr>
              <a:t>Narrative + recommendation, grounded in live web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BREADTH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Nine task types, auto-detected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46120" cy="11155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2560320"/>
            <a:ext cx="182880" cy="18288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24688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88950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binary + multiclass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246120" cy="11155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27448" y="256032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1" y="24688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88950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predict a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286000"/>
            <a:ext cx="3246120" cy="11155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7888" y="256032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24688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88950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find segments (k by silhouette)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84448"/>
            <a:ext cx="3246120" cy="11155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07008" y="3858768"/>
            <a:ext cx="182880" cy="18288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376732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NLP +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18795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topics · sentiment · keywords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84448"/>
            <a:ext cx="3246120" cy="11155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27448" y="3858768"/>
            <a:ext cx="182880" cy="1828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1" y="376732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Anomaly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18795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Isolation Forest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584448"/>
            <a:ext cx="3246120" cy="11155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7888" y="3858768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7072" y="376732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Dimensionality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18795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PCA → 2-D 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882896"/>
            <a:ext cx="3246120" cy="11155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07008" y="5157216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36192" y="5065776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Time-series forecasting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" y="54864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Holt-Winters ETS + seasonality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882896"/>
            <a:ext cx="3246120" cy="11155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27448" y="5157216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6631" y="5065776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Survival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54864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Kaplan-Meier + Cox PH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4882896"/>
            <a:ext cx="3246120" cy="11155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47888" y="5157216"/>
            <a:ext cx="182880" cy="18288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5065776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Recommendation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54864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content-based similarity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tasks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Statistics + model evaluation, not just a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5D7F0"/>
                </a:solidFill>
                <a:latin typeface="Segoe UI Semibold"/>
              </a:rPr>
              <a:t>Statistical significance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Auto-picks the right test: Welch t / Mann-Whitney, ANOVA / Kruskal, chi-square, Pearson — each with a p-value, an effect size (Cohen's d, Cramér's V, |r|) and a plain-English verdict.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2628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So a weak dataset explains itself instead of looking broken — the honest answer, with the maths to back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4028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79F9"/>
                </a:solidFill>
                <a:latin typeface="Segoe UI Semibold"/>
              </a:rPr>
              <a:t>Model evaluation · diagnostics</a:t>
            </a:r>
          </a:p>
        </p:txBody>
      </p:sp>
      <p:sp>
        <p:nvSpPr>
          <p:cNvPr id="12" name="Oval 11"/>
          <p:cNvSpPr/>
          <p:nvPr/>
        </p:nvSpPr>
        <p:spPr>
          <a:xfrm>
            <a:off x="6446520" y="3090672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0175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Stratified k-fold cross-validation (mean ± std)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3547872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4747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Confusion matrix + per-class P / R / F1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4005072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ROC &amp; precision-recall curves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4462272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3891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Calibration + learning curves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4919472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Residuals (predicted vs actual)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5376672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3035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Model-comparison table vs baselines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statistics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Why — not just what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46120" cy="32004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2606040"/>
            <a:ext cx="237744" cy="237744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108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>
                <a:solidFill>
                  <a:srgbClr val="FFFFFF"/>
                </a:solidFill>
                <a:latin typeface="Segoe UI Semibold"/>
              </a:rPr>
              <a:t>SHAP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657600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Quantifies what drives every prediction, with direction — contract type &amp; tenure push churn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246120" cy="32004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2606040"/>
            <a:ext cx="237744" cy="23774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3108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>
                <a:solidFill>
                  <a:srgbClr val="FFFFFF"/>
                </a:solidFill>
                <a:latin typeface="Segoe UI Semibold"/>
              </a:rPr>
              <a:t>Recommended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657600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The Visualizer picks the chart type; the engine fills every number from real data, so a chart can never show a fabricated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286000"/>
            <a:ext cx="3246120" cy="32004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19" y="2606040"/>
            <a:ext cx="237744" cy="237744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108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>
                <a:solidFill>
                  <a:srgbClr val="FFFFFF"/>
                </a:solidFill>
                <a:latin typeface="Segoe UI Semibold"/>
              </a:rPr>
              <a:t>3D knowledge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657600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The whole analysis as an explorable force-directed map — target, drivers, segments, metrics, charts, columns.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explainability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BEYOND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An analyst's full toolkit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2578608"/>
            <a:ext cx="201168" cy="20116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25237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Imbalance · SMOTE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06324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Oversamples the minority class (train only) when classes are skewed.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27448" y="2578608"/>
            <a:ext cx="201168" cy="20116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25237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06324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Log-transforms skew, adds the top interaction — transparently logged.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2860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7888" y="2578608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5237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What-if simulator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06324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Move a feature with a slider, watch the prediction respond.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148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07008" y="4407408"/>
            <a:ext cx="201168" cy="20116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43525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Ask the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89204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Grounded natural-language Q&amp;A over your own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1148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27448" y="4407408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7" y="43525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Exports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89204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Download a .pptx deck, a Markdown report, or the .py script.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11480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7888" y="4407408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43525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Big-data ingest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89204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CSV · Excel · Parquet · JSON · URL · Google Sheets, up to ~3M rows.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toolkit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The engine — one deterministic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7780">
            <a:solidFill>
              <a:srgbClr val="25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C9D6EF"/>
                </a:solidFill>
                <a:latin typeface="Segoe UI"/>
              </a:rPr>
              <a:t>Clean &amp; encode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468880"/>
            <a:ext cx="228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14015" y="24688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778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9735" y="246888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C9D6EF"/>
                </a:solidFill>
                <a:latin typeface="Segoe UI"/>
              </a:rPr>
              <a:t>Detect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3" y="2468880"/>
            <a:ext cx="228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3631" y="24688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7780">
            <a:solidFill>
              <a:srgbClr val="9AE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1" y="246888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C9D6EF"/>
                </a:solidFill>
                <a:latin typeface="Segoe UI"/>
              </a:rPr>
              <a:t>FLAML AutoML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2468880"/>
            <a:ext cx="228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13248" y="24688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7780">
            <a:solidFill>
              <a:srgbClr val="E879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8968" y="246888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C9D6EF"/>
                </a:solidFill>
                <a:latin typeface="Segoe UI"/>
              </a:rPr>
              <a:t>SHAP 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2468880"/>
            <a:ext cx="228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864" y="24688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8583" y="246888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C9D6EF"/>
                </a:solidFill>
                <a:latin typeface="Segoe UI"/>
              </a:rPr>
              <a:t>EDA + stats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468880"/>
            <a:ext cx="228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4688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46888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C9D6EF"/>
                </a:solidFill>
                <a:latin typeface="Segoe UI"/>
              </a:rPr>
              <a:t>Build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2468880"/>
            <a:ext cx="228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76859F"/>
                </a:solidFill>
                <a:latin typeface="Segoe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12096" y="24688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7816" y="246888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C9D6EF"/>
                </a:solidFill>
                <a:latin typeface="Segoe UI"/>
              </a:rPr>
              <a:t>Quality verdict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947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C9D6EF"/>
                </a:solidFill>
                <a:latin typeface="Segoe UI"/>
              </a:rPr>
              <a:t>analysis.py turns a raw dataframe into a full RunResults object. The LLM never invents a number — it only chooses chart types and writes prose; pure Python computes every metric on the real, cleaned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92040"/>
            <a:ext cx="1033272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07492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BBF24"/>
                </a:solidFill>
                <a:latin typeface="Consolas"/>
              </a:rPr>
              <a:t>Big-data path: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44068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striped read-sample · width-scaled training (≤500k rows) · 150-feature cap · float32 downcast · streaming heartbeat so long fits never time out.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engine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Production tooling — and why each choice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542032"/>
            <a:ext cx="164592" cy="164592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31343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Next.js 16 + 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700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A genuinely premium UI; type-safe event contract.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59" y="254203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31343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FastAPI + 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700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Async Python API that streams agent events live.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18688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8720" y="3566160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3375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LangGraph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6941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Purpose-built for multi-agent, looping, stateful 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18688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37959" y="3566160"/>
            <a:ext cx="164592" cy="164592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3375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pandas + 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6941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The standard data-wrangling + ML toolkit.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42816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8720" y="4590288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436168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FLAML AutoML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1830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Finds a good model under a time budget.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42816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59" y="4590288"/>
            <a:ext cx="164592" cy="16459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36168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SHAP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71830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The standard for explainability — 'here's why'.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266944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88720" y="5614416"/>
            <a:ext cx="164592" cy="164592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538581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ChromaDB + MiniLM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742431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RAG grounds the Coder in real recipes.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266944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37959" y="5614416"/>
            <a:ext cx="164592" cy="164592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538581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RestrictedPython + E2B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42431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Sandbox the agent's code — jail by default.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tech-stack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PLUGGABLE &amp; TRANSPARENT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Bring your own model — see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5D7F0"/>
                </a:solidFill>
                <a:latin typeface="Segoe UI Semibold"/>
              </a:rPr>
              <a:t>Eight providers, one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F"/>
                </a:solidFill>
                <a:latin typeface="Consolas"/>
              </a:rPr>
              <a:t>Groq · OpenAI · DeepSeek · Mistral · OpenRouter · Google Gemini · Z.ai (GLM) · Anthropic (Claude)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77639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One model for all agents or a different model per agent. A temperature slider (global or per-agent). Optional E2B microVM key. With no key, Helix runs a deterministic mock for the narration while still doing real ML (FLAML + SHAP). Keys live only in your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4028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BBF24"/>
                </a:solidFill>
                <a:latin typeface="Segoe UI Semibold"/>
              </a:rPr>
              <a:t>Nothing hidden</a:t>
            </a:r>
          </a:p>
        </p:txBody>
      </p:sp>
      <p:sp>
        <p:nvSpPr>
          <p:cNvPr id="12" name="Oval 11"/>
          <p:cNvSpPr/>
          <p:nvPr/>
        </p:nvSpPr>
        <p:spPr>
          <a:xfrm>
            <a:off x="6446520" y="3090672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0175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Exact system prompt + logic per agent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3547872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4747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RestrictedPython / E2B sandbox rules shown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4005072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Complete code + stdout + tracebacks, live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4462272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3891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Every chart ships a data table + 'how to read'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4919472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Data-processing card: every cleaning step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5376672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30352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Honest model-quality verdict band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llms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73151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Segoe UI Semibold"/>
              </a:rPr>
              <a:t>Built to be reliable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25D7F0"/>
                </a:solidFill>
                <a:latin typeface="Segoe UI Semibold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task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2860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9572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8B5CF6"/>
                </a:solidFill>
                <a:latin typeface="Segoe UI Semibold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004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LLM providers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860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39572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9AE64A"/>
                </a:solidFill>
                <a:latin typeface="Segoe UI Semibold"/>
              </a:rPr>
              <a:t>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004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RAG recipes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2860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39572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BBF24"/>
                </a:solidFill>
                <a:latin typeface="Segoe UI Semibold"/>
              </a:rPr>
              <a:t>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2004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pytest on push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77639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032503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9AE64A"/>
                </a:solidFill>
                <a:latin typeface="Segoe UI Semibold"/>
              </a:rPr>
              <a:t>Tested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32503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A pytest suite covers every task type + the engine helpers; GitHub Actions runs tests, typecheck and a production build on every push.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457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800599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9AE64A"/>
                </a:solidFill>
                <a:latin typeface="Segoe UI Semibold"/>
              </a:rPr>
              <a:t>Honest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800599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A model-quality verdict grades each result; weak-signal data is labelled, not dressed 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513831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568695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9AE64A"/>
                </a:solidFill>
                <a:latin typeface="Segoe UI Semibold"/>
              </a:rPr>
              <a:t>Deployed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568695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Frontend on Vercel, backend on Hugging Face Spaces — running end-to-end.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quality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69164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160" y="1691640"/>
            <a:ext cx="182880" cy="18288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69164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1691640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77440" y="1691640"/>
            <a:ext cx="182880" cy="18288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0" y="1691640"/>
            <a:ext cx="182880" cy="18288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08960" y="1691640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169164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0" y="1691640"/>
            <a:ext cx="182880" cy="1828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From a CSV to a decision —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25D7F0"/>
                </a:solidFill>
                <a:latin typeface="Segoe UI Semibold"/>
              </a:rPr>
              <a:t>autonomously.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97680"/>
            <a:ext cx="1033272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49884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76859F"/>
                </a:solidFill>
                <a:latin typeface="Consolas"/>
              </a:rPr>
              <a:t>Live:  </a:t>
            </a:r>
            <a:r>
              <a:rPr sz="1350" b="1">
                <a:solidFill>
                  <a:srgbClr val="C9D6EF"/>
                </a:solidFill>
                <a:latin typeface="Consolas"/>
              </a:rPr>
              <a:t>Vercel (Studio)</a:t>
            </a:r>
            <a:r>
              <a:rPr sz="1350" b="0">
                <a:solidFill>
                  <a:srgbClr val="76859F"/>
                </a:solidFill>
                <a:latin typeface="Consolas"/>
              </a:rPr>
              <a:t>   ·   Backend:  </a:t>
            </a:r>
            <a:r>
              <a:rPr sz="1350" b="1">
                <a:solidFill>
                  <a:srgbClr val="C9D6EF"/>
                </a:solidFill>
                <a:latin typeface="Consolas"/>
              </a:rPr>
              <a:t>Hugging Face Spaces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9 agents · self-correcting · AutoML + SHAP · 9 task types · RAG · live research · full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97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76859F"/>
                </a:solidFill>
                <a:latin typeface="Segoe UI"/>
              </a:rPr>
              <a:t>Thank you.   ·   Capstone Project · IIIT-H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373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